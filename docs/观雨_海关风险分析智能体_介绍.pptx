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1097280" cy="635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60"/>
              </a:lnSpc>
              <a:spcAft>
                <a:spcPts val="40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观 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400"/>
              </a:spcAft>
              <a:defRPr sz="3200" b="1">
                <a:solidFill>
                  <a:srgbClr val="C89B3C"/>
                </a:solidFill>
                <a:latin typeface="Microsoft YaHei"/>
              </a:defRPr>
            </a:pPr>
            <a:r>
              <a:t>海关风险分析智能体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0">
                <a:solidFill>
                  <a:srgbClr val="88AACC"/>
                </a:solidFill>
                <a:latin typeface="Microsoft YaHei"/>
              </a:defRPr>
            </a:pPr>
            <a:r>
              <a:t>GuanYu — Agentic Intelligence for Customs Risk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0">
                <a:solidFill>
                  <a:srgbClr val="99BBDD"/>
                </a:solidFill>
                <a:latin typeface="Microsoft YaHei"/>
              </a:defRPr>
            </a:pPr>
            <a:r>
              <a:t>🛡️ 忠于国家安全  ·  服务海关履职  ·  以数据洞察护航贸易秩序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5486400"/>
            <a:ext cx="2377440" cy="41148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🤖 基于 DeepAnalyze 大模型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5486400"/>
            <a:ext cx="2377440" cy="41148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🔬 深度数据分析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486400"/>
            <a:ext cx="2377440" cy="41148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🛡️ 风险精准识别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5486400"/>
            <a:ext cx="2377440" cy="41148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Microsoft YaHei"/>
              </a:defRPr>
            </a:pPr>
            <a:r>
              <a:t>📊 一键生成专业报告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6688AA"/>
                </a:solidFill>
                <a:latin typeface="Microsoft YaHei"/>
              </a:defRPr>
            </a:pPr>
            <a:r>
              <a:t>中国人民大学  ·  清华大学  ·  DeepAnalyze 开源项目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🔍 观雨是什么？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90"/>
              </a:lnSpc>
              <a:spcAft>
                <a:spcPts val="400"/>
              </a:spcAft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"观雨"是一款专为中国海关风险管理和风险防控打造的AI智能体。</a:t>
            </a:r>
            <a:br/>
            <a:r>
              <a:t>它精通Python与R语言，基于DeepAnalyze大模型引擎，能够自主完成从数据探索、统计分析、关联挖掘到专业报告生成的全流程工作。</a:t>
            </a:r>
            <a:br/>
            <a:r>
              <a:t>核心使命：以大数据智能分析守护国家安全、维护贸易秩序、防控违法违规。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200400"/>
            <a:ext cx="457200" cy="5080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D44D2D"/>
                </a:solidFill>
                <a:latin typeface="Microsoft YaHei"/>
              </a:defRPr>
            </a:pPr>
            <a:r>
              <a:t>🕵️ 走私违规识别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深度挖掘进出口业务中的</a:t>
            </a:r>
            <a:br/>
            <a:r>
              <a:t>走私及违规行为线索</a:t>
            </a:r>
            <a:br/>
            <a:r>
              <a:t>穿透式关联分析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10896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200400"/>
            <a:ext cx="457200" cy="508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6BA6"/>
                </a:solidFill>
                <a:latin typeface="Microsoft YaHei"/>
              </a:defRPr>
            </a:pPr>
            <a:r>
              <a:t>🔒 安全准入管控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49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识别违反安全准入管理</a:t>
            </a:r>
            <a:br/>
            <a:r>
              <a:t>规定的行为</a:t>
            </a:r>
            <a:br/>
            <a:r>
              <a:t>维护市场安全秩序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200400"/>
            <a:ext cx="4572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📋 逃证逃税防控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检测伪报、瞒报、虚报</a:t>
            </a:r>
            <a:br/>
            <a:r>
              <a:t>逃避监管证件行为</a:t>
            </a:r>
            <a:br/>
            <a:r>
              <a:t>低报价格与伪报产地分析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10896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200400"/>
            <a:ext cx="457200" cy="50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A88F"/>
                </a:solidFill>
                <a:latin typeface="Microsoft YaHei"/>
              </a:defRPr>
            </a:pPr>
            <a:r>
              <a:t>📊 智能报告生成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749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PDF/DOCX/PPTX三格式</a:t>
            </a:r>
            <a:br/>
            <a:r>
              <a:t>图文并茂、数据详实</a:t>
            </a:r>
            <a:br/>
            <a:r>
              <a:t>一键交付专业风控报告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6C757D"/>
                </a:solidFill>
                <a:latin typeface="Microsoft YaHei"/>
              </a:defRPr>
            </a:pPr>
            <a:r>
              <a:t>💡  "上传数据，观雨帮你深度洞察进出口业务风险。"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🧠 核心分析能力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📊 规律分析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时序趋势、周期模式识别</a:t>
            </a:r>
            <a:br/>
            <a:r>
              <a:t>异常波动预警与规律挖掘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45920"/>
            <a:ext cx="265176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📈 统计分析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描述性统计、假设检验</a:t>
            </a:r>
            <a:br/>
            <a:r>
              <a:t>回归建模、分类预测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🔄 对比分析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多维度横向/纵向对比</a:t>
            </a:r>
            <a:br/>
            <a:r>
              <a:t>同行业/同类企业对标分析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45920"/>
            <a:ext cx="265176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🔗 关联分析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实体关系图谱构建</a:t>
            </a:r>
            <a:br/>
            <a:r>
              <a:t>多层穿透式关联挖掘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65176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A88F"/>
                </a:solidFill>
                <a:latin typeface="Microsoft YaHei"/>
              </a:defRPr>
            </a:pPr>
            <a:r>
              <a:t>🌐 图谱分析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NetworkX / Neo4j 关系建模</a:t>
            </a:r>
            <a:br/>
            <a:r>
              <a:t>社区发现、中心性分析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11480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114800"/>
            <a:ext cx="265176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A88F"/>
                </a:solidFill>
                <a:latin typeface="Microsoft YaHei"/>
              </a:defRPr>
            </a:pPr>
            <a:r>
              <a:t>🧪 机器学习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46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Scikit-learn 异常检测</a:t>
            </a:r>
            <a:br/>
            <a:r>
              <a:t>SHAP 特征重要性解释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265176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A88F"/>
                </a:solidFill>
                <a:latin typeface="Microsoft YaHei"/>
              </a:defRPr>
            </a:pPr>
            <a:r>
              <a:t>📉 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Seaborn + ggplot2 双引擎</a:t>
            </a:r>
            <a:br/>
            <a:r>
              <a:t>热力图/散点图/网络图等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114800"/>
            <a:ext cx="2651760" cy="21031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114800"/>
            <a:ext cx="265176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A88F"/>
                </a:solidFill>
                <a:latin typeface="Microsoft YaHei"/>
              </a:defRPr>
            </a:pPr>
            <a:r>
              <a:t>📝 报告撰写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8463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Microsoft YaHei"/>
              </a:defRPr>
            </a:pPr>
            <a:r>
              <a:t>PDF/DOCX/PPTX 三格式</a:t>
            </a:r>
            <a:br/>
            <a:r>
              <a:t>海关风格模板自动排版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⚙️ 智能分析工作流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148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14884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28800"/>
            <a:ext cx="548640" cy="5486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6BA6"/>
                </a:solidFill>
                <a:latin typeface="Microsoft YaHei"/>
              </a:defRPr>
            </a:pPr>
            <a:r>
              <a:t>数据探索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自动识别字段类型</a:t>
            </a:r>
            <a:br/>
            <a:r>
              <a:t>建立数据字典</a:t>
            </a:r>
            <a:br/>
            <a:r>
              <a:t>评估数据质量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6C75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645920"/>
            <a:ext cx="2148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645920"/>
            <a:ext cx="214884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1828800"/>
            <a:ext cx="548640" cy="54864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688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A88F"/>
                </a:solidFill>
                <a:latin typeface="Microsoft YaHei"/>
              </a:defRPr>
            </a:pPr>
            <a:r>
              <a:t>分析规划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2608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基于海关业务逻辑</a:t>
            </a:r>
            <a:br/>
            <a:r>
              <a:t>制定分析角度</a:t>
            </a:r>
            <a:br/>
            <a:r>
              <a:t>构建任务树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6C75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645920"/>
            <a:ext cx="2148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645920"/>
            <a:ext cx="214884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6440" y="1828800"/>
            <a:ext cx="548640" cy="54864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4688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智能执行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92608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Analyze→Code→Execute</a:t>
            </a:r>
            <a:br/>
            <a:r>
              <a:t>自我纠错 + 死循环检测</a:t>
            </a:r>
            <a:br/>
            <a:r>
              <a:t>递进式成果累积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6C75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645920"/>
            <a:ext cx="2148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645920"/>
            <a:ext cx="2148840" cy="54864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80" y="1828800"/>
            <a:ext cx="548640" cy="548640"/>
          </a:xfrm>
          <a:prstGeom prst="ellipse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4688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D44D2D"/>
                </a:solidFill>
                <a:latin typeface="Microsoft YaHei"/>
              </a:defRPr>
            </a:pPr>
            <a:r>
              <a:t>深度洞察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92608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多角度逻辑推理</a:t>
            </a:r>
            <a:br/>
            <a:r>
              <a:t>穿透式关联挖掘</a:t>
            </a:r>
            <a:br/>
            <a:r>
              <a:t>风险点精准锁定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6C75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1645920"/>
            <a:ext cx="2148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645920"/>
            <a:ext cx="214884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61320" y="182880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4688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6C5CE7"/>
                </a:solidFill>
                <a:latin typeface="Microsoft YaHei"/>
              </a:defRPr>
            </a:pPr>
            <a:r>
              <a:t>报告交付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2608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PDF/DOCX/PPTX</a:t>
            </a:r>
            <a:br/>
            <a:r>
              <a:t>图表+文字+数据三要素</a:t>
            </a:r>
            <a:br/>
            <a:r>
              <a:t>交付物完整性检查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D152E"/>
                </a:solidFill>
                <a:latin typeface="Microsoft YaHei"/>
              </a:defRPr>
            </a:pPr>
            <a:r>
              <a:t>📋 两种分析模式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03520"/>
            <a:ext cx="5486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54864" cy="11887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6BA6"/>
                </a:solidFill>
                <a:latin typeface="Microsoft YaHei"/>
              </a:defRPr>
            </a:pPr>
            <a:r>
              <a:t>🤝 交互式分析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展示分析计划 → 用户选择 → 逐项执行 → 用户确认</a:t>
            </a:r>
            <a:br/>
            <a:r>
              <a:t>适合需要精细控制分析方向的场景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03520"/>
            <a:ext cx="5486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303520"/>
            <a:ext cx="54864" cy="11887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A88F"/>
                </a:solidFill>
                <a:latin typeface="Microsoft YaHei"/>
              </a:defRPr>
            </a:pPr>
            <a:r>
              <a:t>🤖 全程代理分析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自主执行全部任务树 → 不间断分析 → 一次性交付</a:t>
            </a:r>
            <a:br/>
            <a:r>
              <a:t>适合对分析结果有明确预期的场景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🎯 三级分析策略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根据任务需求灵活调整分析的深度和广度，兼顾效率与洞察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566160" cy="43891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66160" cy="7315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006BA6"/>
                </a:solidFill>
                <a:latin typeface="Microsoft YaHei"/>
              </a:defRPr>
            </a:pPr>
            <a:r>
              <a:t>🎯 聚焦诉求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1737360" cy="320040"/>
          </a:xfrm>
          <a:prstGeom prst="round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温度：0.2（极低）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严格遵循用户指令</a:t>
            </a:r>
            <a:br/>
            <a:r>
              <a:t>• 仅针对直接问题分析</a:t>
            </a:r>
            <a:br/>
            <a:r>
              <a:t>• 简洁高效、直击要点</a:t>
            </a:r>
            <a:br/>
            <a:r>
              <a:t>• 不做不必要的发散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120640"/>
            <a:ext cx="3291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适用：明确的单一分析需求</a:t>
            </a:r>
            <a:br/>
            <a:r>
              <a:t>如"某企业价格偏离度分析"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566160" cy="43891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566160" cy="7315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C89B3C"/>
                </a:solidFill>
                <a:latin typeface="Microsoft YaHei"/>
              </a:defRPr>
            </a:pPr>
            <a:r>
              <a:t>⚖️ 适度扩展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743200"/>
            <a:ext cx="1737360" cy="320040"/>
          </a:xfrm>
          <a:prstGeom prst="round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温度：0.4（适中）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46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满足核心需求为基础</a:t>
            </a:r>
            <a:br/>
            <a:r>
              <a:t>• 适量关联性分析</a:t>
            </a:r>
            <a:br/>
            <a:r>
              <a:t>• 浅层风险提示</a:t>
            </a:r>
            <a:br/>
            <a:r>
              <a:t>• 注意分寸、不过度发散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120640"/>
            <a:ext cx="3291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适用：需要一定上下文的分析</a:t>
            </a:r>
            <a:br/>
            <a:r>
              <a:t>如"某行业进口整体态势"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103120"/>
            <a:ext cx="3566160" cy="43891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D44D2D"/>
                </a:solidFill>
                <a:latin typeface="Microsoft YaHei"/>
              </a:defRPr>
            </a:pPr>
            <a:r>
              <a:t>🔮 广泛延展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743200"/>
            <a:ext cx="1737360" cy="320040"/>
          </a:xfrm>
          <a:prstGeom prst="round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温度：0.6（较高）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46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深度发散分析</a:t>
            </a:r>
            <a:br/>
            <a:r>
              <a:t>• 挖掘数据间潜在联系</a:t>
            </a:r>
            <a:br/>
            <a:r>
              <a:t>• 结合海关业务逻辑</a:t>
            </a:r>
            <a:br/>
            <a:r>
              <a:t>• 全方位风险预判与趋势分析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5120640"/>
            <a:ext cx="3291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适用：深度研究型任务</a:t>
            </a:r>
            <a:br/>
            <a:r>
              <a:t>如"某区域通关异常综合研判"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🌐 穿透式关系图谱分析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0">
                <a:solidFill>
                  <a:srgbClr val="AACCFF"/>
                </a:solidFill>
                <a:latin typeface="Microsoft YaHei"/>
              </a:defRPr>
            </a:pPr>
            <a:r>
              <a:t>基于图论和关系型数据库思维，穿透层层关系，锁定幕后实质性主体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🏢 实体识别与建模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🏭  经营企业 / 收发货人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👤  法定代表人 / 实际控制人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📦  货物 / HS编码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🚢  运输工具 / 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🏦  银行账户 / 资金流向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DEEFF"/>
                </a:solidFill>
                <a:latin typeface="Microsoft YaHei"/>
              </a:defRPr>
            </a:pPr>
            <a:r>
              <a:t>📝  报关单位 / 代理企业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🔍 穿透式分析策略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一度关联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直接交易、申报、代理关系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二度+关联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通过中间节点的隐性关系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路径分析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840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实体间最短路径与所有路径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社区发现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紧密关联的实体群组（利益共同体）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中心性分析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关键控制人/核心企业定位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349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00A88F"/>
                </a:solidFill>
                <a:latin typeface="Microsoft YaHei"/>
              </a:defRPr>
            </a:pPr>
            <a:r>
              <a:t>▸ 异常模式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49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星形结构（壳公司）、链式结构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🛠 技术支撑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83464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862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NetworkX 图构建与分析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33756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3649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Neo4j 图数据库集成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84048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8679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度中心性 / 介数中心性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34340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43708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Louvain 社区检测算法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84632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873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SHAP 特征重要性解释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5349240"/>
            <a:ext cx="3200400" cy="384048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53766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⚡ Matplotlib 关系可视化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🖥 交互界面与特色功能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6BA6"/>
                </a:solidFill>
                <a:latin typeface="Microsoft YaHei"/>
              </a:defRPr>
            </a:pPr>
            <a:r>
              <a:t>三栏式专业工作台：文件管理 · 对话分析 · 成果预览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56616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6BA6"/>
                </a:solidFill>
                <a:latin typeface="Microsoft YaHei"/>
              </a:defRPr>
            </a:pPr>
            <a:r>
              <a:t>📁 左栏：文件管理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数据文件上传与管理</a:t>
            </a:r>
            <a:br/>
            <a:r>
              <a:t>• 工作区文件树浏览</a:t>
            </a:r>
            <a:br/>
            <a:r>
              <a:t>• 生成文件预览与下载</a:t>
            </a:r>
            <a:br/>
            <a:r>
              <a:t>• 项目切换与会话管理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56616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💬 中栏：对话分析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实时流式分析输出</a:t>
            </a:r>
            <a:br/>
            <a:r>
              <a:t>• 代码执行过程可视化</a:t>
            </a:r>
            <a:br/>
            <a:r>
              <a:t>• 步骤导航与自动折叠</a:t>
            </a:r>
            <a:br/>
            <a:r>
              <a:t>• 分析过程全程可追溯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A88F"/>
                </a:solidFill>
                <a:latin typeface="Microsoft YaHei"/>
              </a:defRPr>
            </a:pPr>
            <a:r>
              <a:t>👁 右栏：成果预览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• 图表实时预览</a:t>
            </a:r>
            <a:br/>
            <a:r>
              <a:t>• PDF/DOCX/PPTX 在线查看</a:t>
            </a:r>
            <a:br/>
            <a:r>
              <a:t>• 数据表格浏览</a:t>
            </a:r>
            <a:br/>
            <a:r>
              <a:t>• 一键下载分析成果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D152E"/>
                </a:solidFill>
                <a:latin typeface="Microsoft YaHei"/>
              </a:defRPr>
            </a:pPr>
            <a:r>
              <a:t>✨ 特色功能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2743200" cy="457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006BA6"/>
                </a:solidFill>
                <a:latin typeface="Microsoft YaHei"/>
              </a:defRPr>
            </a:pPr>
            <a:r>
              <a:t>🌧 风调雨顺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分析进行中随时注入新需求</a:t>
            </a:r>
            <a:br/>
            <a:r>
              <a:t>动态调整分析方向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0292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5029200"/>
            <a:ext cx="2743200" cy="457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5166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00A88F"/>
                </a:solidFill>
                <a:latin typeface="Microsoft YaHei"/>
              </a:defRPr>
            </a:pPr>
            <a:r>
              <a:t>📖 雨途斩棘录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错误修正知识库自动学习</a:t>
            </a:r>
            <a:br/>
            <a:r>
              <a:t>避免重蹈复辙、越用越智能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0292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5029200"/>
            <a:ext cx="274320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🔄 自我纠错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代码错误自动检测修复</a:t>
            </a:r>
            <a:br/>
            <a:r>
              <a:t>最多重试3次后切换方案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50292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5029200"/>
            <a:ext cx="2743200" cy="4572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5166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D44D2D"/>
                </a:solidFill>
                <a:latin typeface="Microsoft YaHei"/>
              </a:defRPr>
            </a:pPr>
            <a:r>
              <a:t>🚫 死循环检测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D3A4A"/>
                </a:solidFill>
                <a:latin typeface="Microsoft YaHei"/>
              </a:defRPr>
            </a:pPr>
            <a:r>
              <a:t>智能检测分析死循环</a:t>
            </a:r>
            <a:br/>
            <a:r>
              <a:t>强制跳出、更换策略继续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📐 九大分析原则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自我纠错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自动识别错误类型</a:t>
            </a:r>
            <a:br/>
            <a:r>
              <a:t>生成修复方案重试</a:t>
            </a:r>
            <a:br/>
            <a:r>
              <a:t>最多3次后切换方案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60020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先测后做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2-5行代码验证假设</a:t>
            </a:r>
            <a:br/>
            <a:r>
              <a:t>小样本预测试</a:t>
            </a:r>
            <a:br/>
            <a:r>
              <a:t>确认可行再执行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160020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数据字典优先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强制首步建立字典</a:t>
            </a:r>
            <a:br/>
            <a:r>
              <a:t>字段名/类型/统计</a:t>
            </a:r>
            <a:br/>
            <a:r>
              <a:t>后续严格引用字典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大任务拆分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576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结构化任务树</a:t>
            </a:r>
            <a:br/>
            <a:r>
              <a:t>按依赖关系编排</a:t>
            </a:r>
            <a:br/>
            <a:r>
              <a:t>支持并行执行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15468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4840" y="329184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双模分析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6576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交互式 vs 全代理</a:t>
            </a:r>
            <a:br/>
            <a:r>
              <a:t>用户控制分析范围</a:t>
            </a:r>
            <a:br/>
            <a:r>
              <a:t>灵活切换模式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15468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329184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输出规范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6576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简体中文全程</a:t>
            </a:r>
            <a:br/>
            <a:r>
              <a:t>三格式报告交付</a:t>
            </a:r>
            <a:br/>
            <a:r>
              <a:t>海关风格模板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98348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类型安全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49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自动检测数据类型</a:t>
            </a:r>
            <a:br/>
            <a:r>
              <a:t>安全类型转换</a:t>
            </a:r>
            <a:br/>
            <a:r>
              <a:t>异常自动修复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84632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34840" y="498348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高效复用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349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递进式成果累积</a:t>
            </a:r>
            <a:br/>
            <a:r>
              <a:t>共性逻辑提取复用</a:t>
            </a:r>
            <a:br/>
            <a:r>
              <a:t>禁止重复生成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846320"/>
            <a:ext cx="3566160" cy="14173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5320" y="4983480"/>
            <a:ext cx="411480" cy="41148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2E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交付检查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349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报告格式完整性</a:t>
            </a:r>
            <a:br/>
            <a:r>
              <a:t>分析目标覆盖率</a:t>
            </a:r>
            <a:br/>
            <a:r>
              <a:t>图表引用正确性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📋 专业报告交付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6BA6"/>
                </a:solidFill>
                <a:latin typeface="Microsoft YaHei"/>
              </a:defRPr>
            </a:pPr>
            <a:r>
              <a:t>📑 报告结构规范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100584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006BA6"/>
                </a:solidFill>
                <a:latin typeface="Microsoft YaHei"/>
              </a:defRPr>
            </a:pPr>
            <a:r>
              <a:t>第一部分：分析思路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阐述分析背景、推理逻辑、执行步骤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4864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第二部分：分析主体内容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现状描述 → 推理推导 → 阶段性结论 → 可视化图表</a:t>
            </a:r>
            <a:br/>
            <a:r>
              <a:t>图表与观点紧密结合，每个发现附数据证据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54864" cy="100584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D44D2D"/>
                </a:solidFill>
                <a:latin typeface="Microsoft YaHei"/>
              </a:defRPr>
            </a:pPr>
            <a:r>
              <a:t>第三部分：分析小结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核心发现汇总、风险等级评估、针对性建议</a:t>
            </a:r>
            <a:br/>
            <a:r>
              <a:t>附汇总表格，列出所有关键发现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6BA6"/>
                </a:solidFill>
                <a:latin typeface="Microsoft YaHei"/>
              </a:defRPr>
            </a:pPr>
            <a:r>
              <a:t>📦 三格式交付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1737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1737360" cy="4572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D44D2D"/>
                </a:solidFill>
                <a:latin typeface="Microsoft YaHei"/>
              </a:defRPr>
            </a:pPr>
            <a:r>
              <a:t>📕 PDF 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D3A4A"/>
                </a:solidFill>
                <a:latin typeface="Microsoft YaHei"/>
              </a:defRPr>
            </a:pPr>
            <a:r>
              <a:t>海关风格模板排版</a:t>
            </a:r>
            <a:br/>
            <a:r>
              <a:t>黑体标题 + 仿宋正文</a:t>
            </a:r>
            <a:br/>
            <a:r>
              <a:t>图表嵌入、自动分页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920240"/>
            <a:ext cx="1737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920240"/>
            <a:ext cx="1737360" cy="457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6BA6"/>
                </a:solidFill>
                <a:latin typeface="Microsoft YaHei"/>
              </a:defRPr>
            </a:pPr>
            <a:r>
              <a:t>📘 DOCX 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6888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D3A4A"/>
                </a:solidFill>
                <a:latin typeface="Microsoft YaHei"/>
              </a:defRPr>
            </a:pPr>
            <a:r>
              <a:t>结构化Word文档</a:t>
            </a:r>
            <a:br/>
            <a:r>
              <a:t>支持二次编辑修改</a:t>
            </a:r>
            <a:br/>
            <a:r>
              <a:t>保留完整格式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920240"/>
            <a:ext cx="1737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1920240"/>
            <a:ext cx="173736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C89B3C"/>
                </a:solidFill>
                <a:latin typeface="Microsoft YaHei"/>
              </a:defRPr>
            </a:pPr>
            <a:r>
              <a:t>📙 PPTX 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46888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D3A4A"/>
                </a:solidFill>
                <a:latin typeface="Microsoft YaHei"/>
              </a:defRPr>
            </a:pPr>
            <a:r>
              <a:t>演示文稿格式</a:t>
            </a:r>
            <a:br/>
            <a:r>
              <a:t>适合汇报展示</a:t>
            </a:r>
            <a:br/>
            <a:r>
              <a:t>图表+结论提炼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D152E"/>
                </a:solidFill>
                <a:latin typeface="Microsoft YaHei"/>
              </a:defRPr>
            </a:pPr>
            <a:r>
              <a:t>✅ 质量要求：每个分析点必须包含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📊  可视化图表 — 恰当的图表类型直观展示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40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📝  文字描述 — 趋势、特征、关键发现详述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Microsoft YaHei"/>
              </a:defRPr>
            </a:pPr>
            <a:r>
              <a:t>🔢  数据证据 — 具体数值、百分比、排名支撑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D44D2D"/>
                </a:solidFill>
                <a:latin typeface="Microsoft YaHei"/>
              </a:defRPr>
            </a:pPr>
            <a:r>
              <a:t>🚫 严禁空壳报告  ·  严禁占位文本  ·  严禁结论堆砌  ·  必须 "有图、有话、有数据"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🛠 技术栈全景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457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6BA6"/>
                </a:solidFill>
                <a:latin typeface="Microsoft YaHei"/>
              </a:defRPr>
            </a:pPr>
            <a:r>
              <a:t>🤖 AI 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DeepAnalyze-8B 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DeepSeek-R1 基座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vLLM 推理引擎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OpenAI 兼容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457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A88F"/>
                </a:solidFill>
                <a:latin typeface="Microsoft YaHei"/>
              </a:defRPr>
            </a:pPr>
            <a:r>
              <a:t>🐍 Python 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Pandas / NumPy / SciPy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41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Scikit-learn / SHAP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254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Seaborn / Matplotlib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95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NetworkX / Neo4j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56616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89B3C"/>
                </a:solidFill>
                <a:latin typeface="Microsoft YaHei"/>
              </a:defRPr>
            </a:pPr>
            <a:r>
              <a:t>📊 R 语言生态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ggplot2 / Tidyverse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41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showtext 中文渲染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254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Cairo PDF 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95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knitr / rmarkdown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6908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3566160" cy="4572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D44D2D"/>
                </a:solidFill>
                <a:latin typeface="Microsoft YaHei"/>
              </a:defRPr>
            </a:pPr>
            <a:r>
              <a:t>📝 报告生成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fpdf2 / reportlab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474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python-docx Word文档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31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python-pptx 演示文稿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155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agent_utils 一键生成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06908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069080"/>
            <a:ext cx="35661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🌐 前端框架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Next.js / React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474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TypeScript 类型安全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431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Tailwind CSS 样式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8155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Three-Panel 三栏布局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069080"/>
            <a:ext cx="356616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4069080"/>
            <a:ext cx="35661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🔒 安全与部署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Docker 沙箱隔离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0474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会话隔离 / 权限管理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431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UTF-8 编码自动转换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8155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▸  vLLM GPU优化推理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0D152E"/>
                </a:solidFill>
                <a:latin typeface="Microsoft YaHei"/>
              </a:defRPr>
            </a:pPr>
            <a:r>
              <a:t>🎯 典型应用场景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2286000"/>
          </a:xfrm>
          <a:prstGeom prst="rect">
            <a:avLst/>
          </a:prstGeom>
          <a:solidFill>
            <a:srgbClr val="D4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D44D2D"/>
                </a:solidFill>
                <a:latin typeface="Microsoft YaHei"/>
              </a:defRPr>
            </a:pPr>
            <a:r>
              <a:t>🕵️ 走私违规线索排查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分析进出口企业申报数据，通过价格偏离分析、</a:t>
            </a:r>
            <a:br/>
            <a:r>
              <a:t>同类商品对比、历史行为异常检测等方法，</a:t>
            </a:r>
            <a:br/>
            <a:r>
              <a:t>识别潜在走私与违规申报线索。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D44D2D"/>
                </a:solidFill>
                <a:latin typeface="Microsoft YaHei"/>
              </a:defRPr>
            </a:pPr>
            <a:r>
              <a:t>✅ 穿透关联 → 锁定可疑主体 → 风险等级评估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" cy="22860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C89B3C"/>
                </a:solidFill>
                <a:latin typeface="Microsoft YaHei"/>
              </a:defRPr>
            </a:pPr>
            <a:r>
              <a:t>💰 逃税风险画像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低报价格 + 伪报原产地 + HS编码归类偏差</a:t>
            </a:r>
            <a:br/>
            <a:r>
              <a:t>三维交叉分析，构建逃税风险企业画像，</a:t>
            </a:r>
            <a:br/>
            <a:r>
              <a:t>量化风险评分与排名。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5468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C89B3C"/>
                </a:solidFill>
                <a:latin typeface="Microsoft YaHei"/>
              </a:defRPr>
            </a:pPr>
            <a:r>
              <a:t>✅ 数据建模 → 特征工程 → 风险评分排名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54864" cy="2286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6BA6"/>
                </a:solidFill>
                <a:latin typeface="Microsoft YaHei"/>
              </a:defRPr>
            </a:pPr>
            <a:r>
              <a:t>🔗 利益关联网络穿透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基于企业关系图谱，发现壳公司、关联交易、</a:t>
            </a:r>
            <a:br/>
            <a:r>
              <a:t>层层代理等隐蔽关系结构，</a:t>
            </a:r>
            <a:br/>
            <a:r>
              <a:t>锁定幕后实际控制人与利益集团。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1500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006BA6"/>
                </a:solidFill>
                <a:latin typeface="Microsoft YaHei"/>
              </a:defRPr>
            </a:pPr>
            <a:r>
              <a:t>✅ 图谱构建 → 社区发现 → 核心节点定位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4864" cy="2286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A88F"/>
                </a:solidFill>
                <a:latin typeface="Microsoft YaHei"/>
              </a:defRPr>
            </a:pPr>
            <a:r>
              <a:t>📈 行业趋势与异常预警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617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Microsoft YaHei"/>
              </a:defRPr>
            </a:pPr>
            <a:r>
              <a:t>某行业/商品/区域进出口态势分析，</a:t>
            </a:r>
            <a:br/>
            <a:r>
              <a:t>时序趋势识别、周期模式发现、</a:t>
            </a:r>
            <a:br/>
            <a:r>
              <a:t>异常波动实时预警。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71500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760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00A88F"/>
                </a:solidFill>
                <a:latin typeface="Microsoft YaHei"/>
              </a:defRPr>
            </a:pPr>
            <a:r>
              <a:t>✅ 趋势分析 → 异常检测 → 预警报告输出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4572000" cy="4572000"/>
          </a:xfrm>
          <a:prstGeom prst="ellipse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2743200" cy="635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以数据为刃，观风雨而知天下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AACCFF"/>
                </a:solidFill>
                <a:latin typeface="Microsoft YaHei"/>
              </a:defRPr>
            </a:pPr>
            <a:r>
              <a:t>让每一笔进出口数据都经得起深度审视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474720"/>
            <a:ext cx="2377440" cy="548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🛡️ 忠于国家安全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474720"/>
            <a:ext cx="2377440" cy="548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⚖️ 维护贸易秩序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2377440" cy="548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🔍 精准风险识别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3474720"/>
            <a:ext cx="2377440" cy="548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500" b="1">
                <a:solidFill>
                  <a:srgbClr val="C89B3C"/>
                </a:solidFill>
                <a:latin typeface="Microsoft YaHei"/>
              </a:defRPr>
            </a:pPr>
            <a:r>
              <a:t>📊 数据驱动决策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89120"/>
            <a:ext cx="2377440" cy="9144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A88F"/>
                </a:solidFill>
                <a:latin typeface="Microsoft YaHei"/>
              </a:defRPr>
            </a:pPr>
            <a:r>
              <a:t>🌐  GitHub 仓库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Microsoft YaHei"/>
              </a:defRPr>
            </a:pPr>
            <a:r>
              <a:t>github.com/ruc-datalab/DeepAnalyze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389120"/>
            <a:ext cx="2377440" cy="9144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A88F"/>
                </a:solidFill>
                <a:latin typeface="Microsoft YaHei"/>
              </a:defRPr>
            </a:pPr>
            <a:r>
              <a:t>🤗  模型下载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Microsoft YaHei"/>
              </a:defRPr>
            </a:pPr>
            <a:r>
              <a:t>HuggingFace / ModelScope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389120"/>
            <a:ext cx="2377440" cy="9144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A88F"/>
                </a:solidFill>
                <a:latin typeface="Microsoft YaHei"/>
              </a:defRPr>
            </a:pPr>
            <a:r>
              <a:t>📄  学术论文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Microsoft YaHei"/>
              </a:defRPr>
            </a:pPr>
            <a:r>
              <a:t>arXiv: 2510.16872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389120"/>
            <a:ext cx="2377440" cy="9144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00A88F"/>
                </a:solidFill>
                <a:latin typeface="Microsoft YaHei"/>
              </a:defRPr>
            </a:pPr>
            <a:r>
              <a:t>📧  技术支持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Microsoft YaHei"/>
              </a:defRPr>
            </a:pPr>
            <a:r>
              <a:t>zhangshaolei98@ruc.edu.cn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80"/>
              </a:lnSpc>
              <a:spcAft>
                <a:spcPts val="400"/>
              </a:spcAft>
              <a:defRPr sz="2600" b="1">
                <a:solidFill>
                  <a:srgbClr val="88AADD"/>
                </a:solidFill>
                <a:latin typeface="Microsoft YaHei"/>
              </a:defRPr>
            </a:pPr>
            <a:r>
              <a:t>感谢聆听  ·  观雨——海关风险分析智能体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