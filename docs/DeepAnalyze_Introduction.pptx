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4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144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00"/>
              </a:lnSpc>
              <a:spcAft>
                <a:spcPts val="40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DeepAnalyze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400"/>
              </a:spcAft>
              <a:defRPr sz="2600" b="0">
                <a:solidFill>
                  <a:srgbClr val="AACCFF"/>
                </a:solidFill>
                <a:latin typeface="Calibri"/>
              </a:defRPr>
            </a:pPr>
            <a:r>
              <a:t>Agentic Large Language Models for Autonomous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88AADD"/>
                </a:solidFill>
                <a:latin typeface="Calibri"/>
              </a:defRPr>
            </a:pPr>
            <a:r>
              <a:t>🤖 首个面向自主数据科学的智能体大语言模型 — 全面开源、即刻可用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7799BB"/>
                </a:solidFill>
                <a:latin typeface="Calibri"/>
              </a:defRPr>
            </a:pPr>
            <a:r>
              <a:t>中国人民大学 · 清华大学    |    张少磊 · 范举 · 范美豪 · 李国良 · 杜小勇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760720"/>
            <a:ext cx="2286000" cy="4114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Calibri"/>
              </a:defRPr>
            </a:pPr>
            <a:r>
              <a:t>📄 arXiv: 2510.16872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760720"/>
            <a:ext cx="2286000" cy="4114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Calibri"/>
              </a:defRPr>
            </a:pPr>
            <a:r>
              <a:t>🤗 HuggingFace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760720"/>
            <a:ext cx="2286000" cy="4114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Calibri"/>
              </a:defRPr>
            </a:pPr>
            <a:r>
              <a:t>⭐ 1K+ GitHub Stars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5760720"/>
            <a:ext cx="2286000" cy="4114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CDDEE"/>
                </a:solidFill>
                <a:latin typeface="Calibri"/>
              </a:defRPr>
            </a:pPr>
            <a:r>
              <a:t>👀 200K+ Twitter 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🔍 DeepAnalyze 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400"/>
              </a:spcAft>
              <a:defRPr sz="1800" b="0">
                <a:solidFill>
                  <a:srgbClr val="2D3A4A"/>
                </a:solidFill>
                <a:latin typeface="Calibri"/>
              </a:defRPr>
            </a:pPr>
            <a:r>
              <a:t>DeepAnalyze 是首个面向自主数据科学的智能体大语言模型（Agentic LLM），由中国人民大学与清华大学联合研发。</a:t>
            </a:r>
            <a:br/>
            <a:r>
              <a:t>它能够在无需人工干预的情况下，自主完成从数据准备、分析、建模到可视化和报告生成的全流程数据科学任务。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4572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7BFF"/>
                </a:solidFill>
                <a:latin typeface="Calibri"/>
              </a:defRPr>
            </a:pPr>
            <a:r>
              <a:t>🛠 全流程数据科学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自动完成数据准备、清洗、分析、</a:t>
            </a:r>
            <a:br/>
            <a:r>
              <a:t>建模、可视化、报告生成等</a:t>
            </a:r>
            <a:br/>
            <a:r>
              <a:t>所有数据科学任务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9260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19" y="301752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🔍 开放式数据研究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对结构化（CSV、Excel、DB）、</a:t>
            </a:r>
            <a:br/>
            <a:r>
              <a:t>半结构化（JSON、XML）、</a:t>
            </a:r>
            <a:br/>
            <a:r>
              <a:t>非结构化（TXT、MD）数据</a:t>
            </a:r>
            <a:br/>
            <a:r>
              <a:t>进行深度研究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017520"/>
            <a:ext cx="457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FF6B35"/>
                </a:solidFill>
                <a:latin typeface="Calibri"/>
              </a:defRPr>
            </a:pPr>
            <a:r>
              <a:t>📊 完全开源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模型、代码、训练数据、Demo</a:t>
            </a:r>
            <a:br/>
            <a:r>
              <a:t>全部开源，可自由部署</a:t>
            </a:r>
            <a:br/>
            <a:r>
              <a:t>或扩展为个人数据分析助手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6C757D"/>
                </a:solidFill>
                <a:latin typeface="Calibri"/>
              </a:defRPr>
            </a:pPr>
            <a:r>
              <a:t>💡 "一句话：上传数据，DeepAnalyze 帮你搞定一切数据分析工作。"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✨ 核心亮点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400"/>
              </a:spcAft>
              <a:defRPr sz="4200" b="1">
                <a:solidFill>
                  <a:srgbClr val="00D4AA"/>
                </a:solidFill>
                <a:latin typeface="Calibri"/>
              </a:defRPr>
            </a:pPr>
            <a:r>
              <a:t>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AABBCC"/>
                </a:solidFill>
                <a:latin typeface="Calibri"/>
              </a:defRPr>
            </a:pPr>
            <a:r>
              <a:t>模型参数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560320" cy="1463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400"/>
              </a:spcAft>
              <a:defRPr sz="4200" b="1">
                <a:solidFill>
                  <a:srgbClr val="00D4AA"/>
                </a:solidFill>
                <a:latin typeface="Calibri"/>
              </a:defRPr>
            </a:pPr>
            <a:r>
              <a:t>500K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AABBCC"/>
                </a:solidFill>
                <a:latin typeface="Calibri"/>
              </a:defRPr>
            </a:pPr>
            <a:r>
              <a:t>训练数据量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2560320" cy="1463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400"/>
              </a:spcAft>
              <a:defRPr sz="4200" b="1">
                <a:solidFill>
                  <a:srgbClr val="00D4AA"/>
                </a:solidFill>
                <a:latin typeface="Calibri"/>
              </a:defRPr>
            </a:pPr>
            <a:r>
              <a:t>1K+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AABBCC"/>
                </a:solidFill>
                <a:latin typeface="Calibri"/>
              </a:defRPr>
            </a:pPr>
            <a:r>
              <a:t>GitHub Stars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645920"/>
            <a:ext cx="2560320" cy="1463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400"/>
              </a:spcAft>
              <a:defRPr sz="4200" b="1">
                <a:solidFill>
                  <a:srgbClr val="00D4AA"/>
                </a:solidFill>
                <a:latin typeface="Calibri"/>
              </a:defRPr>
            </a:pPr>
            <a:r>
              <a:t>200K+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AABBCC"/>
                </a:solidFill>
                <a:latin typeface="Calibri"/>
              </a:defRPr>
            </a:pPr>
            <a:r>
              <a:t>Twitter 曝光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🏆  首个自主数据科学智能体 LLM，开辟全新研究方向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🧠  基于 DeepSeek-R1-0528-Qwen3-8B，深度推理能力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📚  DataScience-Instruct-500K 高质量训练数据集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🔄  课程式智能体训练：单能力微调 → 多能力冷启动 → 强化学习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🌐  支持 WebUI / JupyterUI / CLI / API 四种交互方式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🐳  Docker 沙箱隔离执行，安全可靠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⚡  支持 4-bit/8-bit 量化，16GB 显存即可运行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DEEFF"/>
                </a:solidFill>
                <a:latin typeface="Calibri"/>
              </a:defRPr>
            </a:pPr>
            <a:r>
              <a:t>🔌  兼容 OpenAI API 格式，无缝集成现有工具链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🏗 技术架构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7BFF"/>
                </a:solidFill>
                <a:latin typeface="Calibri"/>
              </a:defRPr>
            </a:pPr>
            <a:r>
              <a:t>智能体执行范式 (Agentic Paradigm)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4592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〈Analyze〉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任务规划、推理、假设与结果解释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645920" cy="4572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〈Understand〉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主动探索数据源结构与语义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64592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〈Code〉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生成可执行 Python 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645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〈Execute〉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系统自动注入代码执行结果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645920" cy="457200"/>
          </a:xfrm>
          <a:prstGeom prst="roundRect">
            <a:avLst/>
          </a:prstGeom>
          <a:solidFill>
            <a:srgbClr val="E17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〈Ask〉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交互模式下主动询问用户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6459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〈Finish〉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3A4A"/>
                </a:solidFill>
                <a:latin typeface="Calibri"/>
              </a:defRPr>
            </a:pPr>
            <a:r>
              <a:t>→  输出最终结论、报告或建议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7BFF"/>
                </a:solidFill>
                <a:latin typeface="Calibri"/>
              </a:defRPr>
            </a:pPr>
            <a:r>
              <a:t>课程式智能体训练 (Curriculum Training)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单能力微调 (SFT)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774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分别训练分析、编码、可视化等单项能力</a:t>
            </a:r>
            <a:br/>
            <a:r>
              <a:t>基于 DataScience-Instruct-500K 数据集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多能力冷启动 (Cold Start)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40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将单能力整合为完整的智能体工作流</a:t>
            </a:r>
            <a:br/>
            <a:r>
              <a:t>学习 Analyze→Code→Execute 的协作模式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3776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强化学习 (RL / GRPO)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035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通过 SkyRL 框架进行在线强化学习</a:t>
            </a:r>
            <a:br/>
            <a:r>
              <a:t>优化端到端任务完成质量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🖥 多种交互方式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灵活选择最适合你的使用方式，从浏览器到命令行，从 Jupyter 到 API，全面覆盖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007BFF"/>
                </a:solidFill>
                <a:latin typeface="Calibri"/>
              </a:defRPr>
            </a:pPr>
            <a:r>
              <a:t>🌐 WebUI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浏览器交互界面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1828800" cy="25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• 上传数据文件，对话式交互</a:t>
            </a:r>
            <a:br/>
            <a:r>
              <a:t>• 实时流式输出分析过程</a:t>
            </a:r>
            <a:br/>
            <a:r>
              <a:t>• 支持文件预览与下载</a:t>
            </a:r>
            <a:br/>
            <a:r>
              <a:t>• 支持 Docker 沙箱执行</a:t>
            </a:r>
            <a:br/>
            <a:r>
              <a:t>• 支持 HeyWhale API 密钥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2743200" cy="73152"/>
          </a:xfrm>
          <a:prstGeom prst="rect">
            <a:avLst/>
          </a:prstGeom>
          <a:solidFill>
            <a:srgbClr val="F37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F37220"/>
                </a:solidFill>
                <a:latin typeface="Calibri"/>
              </a:defRPr>
            </a:pPr>
            <a:r>
              <a:t>📓 JupyterUI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Jupyter Lab 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200400"/>
            <a:ext cx="1828800" cy="25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3832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• 基于 Jupyter Lab 前端</a:t>
            </a:r>
            <a:br/>
            <a:r>
              <a:t>• Markdown/Code 单元格自动分离</a:t>
            </a:r>
            <a:br/>
            <a:r>
              <a:t>• 代码单元格自动执行</a:t>
            </a:r>
            <a:br/>
            <a:r>
              <a:t>• 适合数据科学家日常工作流</a:t>
            </a:r>
            <a:br/>
            <a:r>
              <a:t>• 熟悉的 Notebook 体验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0116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⌨️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命令行终端界面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200400"/>
            <a:ext cx="1828800" cy="25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3832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• Rich 美化终端输出</a:t>
            </a:r>
            <a:br/>
            <a:r>
              <a:t>• 支持文件上传</a:t>
            </a:r>
            <a:br/>
            <a:r>
              <a:t>• 实时流式响应</a:t>
            </a:r>
            <a:br/>
            <a:r>
              <a:t>• 支持中英文双语界面</a:t>
            </a:r>
            <a:br/>
            <a:r>
              <a:t>• 轻量级快速启动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0116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2011680"/>
            <a:ext cx="2743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🔌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OpenAI 兼容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200400"/>
            <a:ext cx="1828800" cy="25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33832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• 完全兼容 OpenAI SDK</a:t>
            </a:r>
            <a:br/>
            <a:r>
              <a:t>• 支持文件上传与管理</a:t>
            </a:r>
            <a:br/>
            <a:r>
              <a:t>• 支持流式/非流式输出</a:t>
            </a:r>
            <a:br/>
            <a:r>
              <a:t>• 多轮对话 Thread 持久化</a:t>
            </a:r>
            <a:br/>
            <a:r>
              <a:t>• 可集成到任何应用中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🎯 典型应用场景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7BFF"/>
                </a:solidFill>
                <a:latin typeface="Calibri"/>
              </a:defRPr>
            </a:pPr>
            <a:r>
              <a:t>📊 学生贷款数据深度研究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上传 10 个 CSV/Excel 文件，DeepAnalyze 自主完成</a:t>
            </a:r>
            <a:br/>
            <a:r>
              <a:t>数据探索、关联分析、可视化与专业研究报告生成。</a:t>
            </a:r>
            <a:br/>
            <a:r>
              <a:t>覆盖人口统计、财务状况、就业信息等多维分析。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007BFF"/>
                </a:solidFill>
                <a:latin typeface="Calibri"/>
              </a:defRPr>
            </a:pPr>
            <a:r>
              <a:t>✅ 输出：分析师级深度研究报告（PDF/Markdown）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4864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🧪 辛普森悖论分析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分析教学方法效果时，自动发现辛普森悖论。</a:t>
            </a:r>
            <a:br/>
            <a:r>
              <a:t>对不同部门分组回归，揭示混淆变量影响。</a:t>
            </a:r>
            <a:br/>
            <a:r>
              <a:t>给出有统计学依据的政策建议。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✅ 输出：统计分析 + 可视化图表 + 决策建议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54864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🏥 医疗心衰预测建模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299例心衰患者临床数据，全自动完成：</a:t>
            </a:r>
            <a:br/>
            <a:r>
              <a:t>变量筛选（L1/Lasso）→ 模型训练（LR+RF）</a:t>
            </a:r>
            <a:br/>
            <a:r>
              <a:t>→ 性能评估（AUC/ROC/PR）→ 中文报告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FF6B35"/>
                </a:solidFill>
                <a:latin typeface="Calibri"/>
              </a:defRPr>
            </a:pPr>
            <a:r>
              <a:t>✅ 15-30分钟完成传统 2-4 小时的建模任务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4864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9B59B6"/>
                </a:solidFill>
                <a:latin typeface="Calibri"/>
              </a:defRPr>
            </a:pPr>
            <a:r>
              <a:t>💰 金融数据与 API 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银行客户数据深度分析：</a:t>
            </a:r>
            <a:br/>
            <a:r>
              <a:t>高价值客户画像、收入特征、贷款分布。</a:t>
            </a:r>
            <a:br/>
            <a:r>
              <a:t>接口调用分析：来源分布、峰值识别。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806440"/>
            <a:ext cx="512064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852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✅ 输出：多维可视化 + 商业洞察报告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🚀 快速开始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环境准备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56032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conda create -n deepanalyze python=3.12</a:t>
            </a:r>
            <a:br/>
            <a:r>
              <a:t>conda activate deepanalyze</a:t>
            </a:r>
            <a:br/>
            <a:r>
              <a:t>pip install -r requirements.txt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下载模型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926080"/>
            <a:ext cx="256032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从 HuggingFace 或 ModelScope 下载</a:t>
            </a:r>
            <a:br/>
            <a:r>
              <a:t>RUC-DataLab/DeepAnalyze-8B</a:t>
            </a:r>
            <a:br/>
            <a:r>
              <a:t>支持 4-bit/8-bit 量化版本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部署服务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256032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vllm serve DeepAnalyze-8B</a:t>
            </a:r>
            <a:br/>
            <a:r>
              <a:t># 或指定量化模型与显存参数</a:t>
            </a:r>
            <a:br/>
            <a:r>
              <a:t># 16GB 显存即可运行 4-bit 版本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启动界面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926080"/>
            <a:ext cx="256032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017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cd demo/chat/frontend &amp;&amp; npm install</a:t>
            </a:r>
            <a:br/>
            <a:r>
              <a:t>cd .. &amp;&amp; bash start.sh</a:t>
            </a:r>
            <a:br/>
            <a:r>
              <a:t># 浏览器访问 http://localhost:4000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7BFF"/>
                </a:solidFill>
                <a:latin typeface="Calibri"/>
              </a:defRPr>
            </a:pPr>
            <a:r>
              <a:t>🔑  也可直接申请 DeepAnalyze API Key，无需部署即可使用！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申请链接：Google Form / Feishu Form  |  支持 HeyWhale 平台  |  详见 docs/DeepAnalyze_API_Key_Usage_Guide.md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⚡ 灵活部署方案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📊 显存配置推荐参数表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 显存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推荐 max-model-len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使用 FP8 KV Cache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16GB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8-bit 量化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8,192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16GB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4-bit 量化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49,152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24GB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原始模型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24GB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4-bit 量化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131,072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40GB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原始模型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131,072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2535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80GB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原始模型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131,072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E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D2D4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🎯 快速选择指南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651760"/>
            <a:ext cx="3657600" cy="6400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697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💻  显存 &lt; 24GB</a:t>
            </a:r>
            <a:br/>
            <a:r>
              <a:t>→  使用 4-bit 量化 + FP8 KV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29000"/>
            <a:ext cx="3657600" cy="6400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⚖️  显存 24-40GB</a:t>
            </a:r>
            <a:br/>
            <a:r>
              <a:t>→  根据需求选择模型类型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06240"/>
            <a:ext cx="3657600" cy="6400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251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🚀  显存 ≥ 40GB</a:t>
            </a:r>
            <a:br/>
            <a:r>
              <a:t>→  使用原始模型获得最佳精度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983479"/>
            <a:ext cx="3657600" cy="6400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02919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🐳  Docker 部署</a:t>
            </a:r>
            <a:br/>
            <a:r>
              <a:t>→  开箱即用，沙箱隔离执行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760720"/>
            <a:ext cx="3657600" cy="64008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806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☁️  API Key</a:t>
            </a:r>
            <a:br/>
            <a:r>
              <a:t>→  无需 GPU，直接调用云端服务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🔬 训练你自己的 DeepAnalyze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完整开源训练框架，让你能够基于自己的数据和场景定制专属的数据科学智能体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📥 下载基础模型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DeepSeek-R1-0528-Qwen3-8B</a:t>
            </a:r>
            <a:br/>
            <a:r>
              <a:t>或基于 DeepAnalyze-8B 微调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94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📚 获取训练数据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DataScience-Instruct-500K</a:t>
            </a:r>
            <a:br/>
            <a:r>
              <a:t>来自 Spider、BIRD、DABStep 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94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2331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🏋️ 单能力微调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scripts/single.sh</a:t>
            </a:r>
            <a:br/>
            <a:r>
              <a:t>分别训练各项数据科学能力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617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🔗 多能力冷启动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scripts/multi_coldstart.sh</a:t>
            </a:r>
            <a:br/>
            <a:r>
              <a:t>整合为完整智能体工作流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480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4617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572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🎯 强化学习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scripts/multi_rl.sh</a:t>
            </a:r>
            <a:br/>
            <a:r>
              <a:t>在线 GRPO 强化学习优化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4805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4617720"/>
            <a:ext cx="54864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72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📊 评测验证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playground/ 统一评测框架</a:t>
            </a:r>
            <a:br/>
            <a:r>
              <a:t>支持多个数据科学基准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🔌 API 使用示例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Python SDK 调用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A6E22E"/>
                </a:solidFill>
                <a:latin typeface="Consolas"/>
              </a:defRPr>
            </a:pPr>
            <a:r>
              <a:t>from deepanalyze import DeepAnalyzeVLLM</a:t>
            </a:r>
            <a:br/>
            <a:br/>
            <a:r>
              <a:t>prompt = """# Instruction</a:t>
            </a:r>
            <a:br/>
            <a:r>
              <a:t>Generate a data science report.</a:t>
            </a:r>
            <a:br/>
            <a:br/>
            <a:r>
              <a:t># Data</a:t>
            </a:r>
            <a:br/>
            <a:r>
              <a:t>File 1: {"name": "data.csv", "size": "10KB"}</a:t>
            </a:r>
            <a:br/>
            <a:r>
              <a:t>"""</a:t>
            </a:r>
            <a:br/>
            <a:br/>
            <a:r>
              <a:t>deepanalyze = DeepAnalyzeVLLM("DeepAnalyze-8B")</a:t>
            </a:r>
            <a:br/>
            <a:r>
              <a:t>answer = deepanalyze.generate(</a:t>
            </a:r>
            <a:br/>
            <a:r>
              <a:t>    prompt, workspace="./data/"</a:t>
            </a:r>
            <a:br/>
            <a:r>
              <a:t>)</a:t>
            </a:r>
            <a:br/>
            <a:r>
              <a:t>print(answer["reasoning"])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OpenAI 兼容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502920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import openai</a:t>
            </a:r>
            <a:br/>
            <a:br/>
            <a:r>
              <a:t>client = openai.OpenAI(</a:t>
            </a:r>
            <a:br/>
            <a:r>
              <a:t>    base_url="http://localhost:8200/v1",</a:t>
            </a:r>
            <a:br/>
            <a:r>
              <a:t>    api_key="your-api-key"</a:t>
            </a:r>
            <a:br/>
            <a:r>
              <a:t>)</a:t>
            </a:r>
            <a:br/>
            <a:br/>
            <a:r>
              <a:t># Upload file</a:t>
            </a:r>
            <a:br/>
            <a:r>
              <a:t>with open('data.csv', 'rb') as f:</a:t>
            </a:r>
            <a:br/>
            <a:r>
              <a:t>    file_obj = client.files.create(file=f)</a:t>
            </a:r>
            <a:br/>
            <a:br/>
            <a:r>
              <a:t># Analyze with file</a:t>
            </a:r>
            <a:br/>
            <a:r>
              <a:t>response = client.chat.completions.create(</a:t>
            </a:r>
            <a:br/>
            <a:r>
              <a:t>    model="DeepAnalyze-8B",</a:t>
            </a:r>
            <a:br/>
            <a:r>
              <a:t>    messages=[{</a:t>
            </a:r>
            <a:br/>
            <a:r>
              <a:t>        "role": "user",</a:t>
            </a:r>
            <a:br/>
            <a:r>
              <a:t>        "content": "Analyze this data",</a:t>
            </a:r>
            <a:br/>
            <a:r>
              <a:t>        "file_ids": [file_obj.id]</a:t>
            </a:r>
            <a:br/>
            <a:r>
              <a:t>    }]</a:t>
            </a:r>
            <a:br/>
            <a:r>
              <a:t>)</a:t>
            </a:r>
            <a:br/>
            <a:r>
              <a:t>print(response.choices[0].message.content)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4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🌍 开源生态与社区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7BFF"/>
                </a:solidFill>
                <a:latin typeface="Calibri"/>
              </a:defRPr>
            </a:pPr>
            <a:r>
              <a:t>🤖 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DeepAnalyze-8B</a:t>
            </a:r>
            <a:br/>
            <a:r>
              <a:t>HuggingFace / ModelScope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💻 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完整源码</a:t>
            </a:r>
            <a:br/>
            <a:r>
              <a:t>GitHub 开源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📚 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DataScience-Instruct-500K</a:t>
            </a:r>
            <a:br/>
            <a:r>
              <a:t>高质量训练数据集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743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9B59B6"/>
                </a:solidFill>
                <a:latin typeface="Calibri"/>
              </a:defRPr>
            </a:pPr>
            <a:r>
              <a:t>🎮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D3A4A"/>
                </a:solidFill>
                <a:latin typeface="Calibri"/>
              </a:defRPr>
            </a:pPr>
            <a:r>
              <a:t>WebUI / Jupyter / CLI</a:t>
            </a:r>
            <a:br/>
            <a:r>
              <a:t>开箱即用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40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👏 参与贡献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t>🔧  代码贡献：Docker 部署、模型量化、新功能开发 — 直接提交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t>📝  案例贡献：分享你的 DeepAnalyze 使用案例 — 放入 example/ 目录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t>🐛  问题反馈：发现 Bug 或有建议 — 提交 GitHub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t>💬  社区交流：加入 WeChat 群组 — 与开发者和用户直接交流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🤝 致谢：ms-swift（ModelScope）| SkyRL（NovaSky-AI）| HeyWhale 社区 | Spider | BIRD | DABStep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4572000" cy="4572000"/>
          </a:xfrm>
          <a:prstGeom prst="ellipse">
            <a:avLst/>
          </a:prstGeom>
          <a:solidFill>
            <a:srgbClr val="00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4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371600"/>
            <a:ext cx="22860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开启你的自主数据科学之旅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400"/>
              </a:spcAft>
              <a:defRPr sz="2200" b="0">
                <a:solidFill>
                  <a:srgbClr val="AACCFF"/>
                </a:solidFill>
                <a:latin typeface="Calibri"/>
              </a:defRPr>
            </a:pPr>
            <a:r>
              <a:t>上传数据，让 DeepAnalyze 为你揭示数据背后的故事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2377440" cy="91440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🌐 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Calibri"/>
              </a:defRPr>
            </a:pPr>
            <a:r>
              <a:t>github.com/ruc-datalab/DeepAnalyze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840480"/>
            <a:ext cx="2377440" cy="91440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🤗  HuggingFace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Calibri"/>
              </a:defRPr>
            </a:pPr>
            <a:r>
              <a:t>huggingface.co/RUC-DataLab/DeepAnalyze-8B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840480"/>
            <a:ext cx="2377440" cy="91440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📄  论文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Calibri"/>
              </a:defRPr>
            </a:pPr>
            <a:r>
              <a:t>arXiv: 2510.16872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840480"/>
            <a:ext cx="2377440" cy="91440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📧  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99BBDD"/>
                </a:solidFill>
                <a:latin typeface="Calibri"/>
              </a:defRPr>
            </a:pPr>
            <a:r>
              <a:t>zhangshaolei98@ruc.edu.cn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⭐  如果觉得有用，请给我们一个 GitHub Star！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400"/>
              </a:spcAft>
              <a:defRPr sz="2800" b="1">
                <a:solidFill>
                  <a:srgbClr val="88AADD"/>
                </a:solidFill>
                <a:latin typeface="Calibri"/>
              </a:defRPr>
            </a:pPr>
            <a:r>
              <a:t>感谢聆听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